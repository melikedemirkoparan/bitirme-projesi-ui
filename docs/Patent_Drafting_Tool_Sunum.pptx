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Patent Drafting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  <a:latin typeface="Calibri"/>
              </a:rPr>
              <a:t>Buton Rehberi &amp; Teknik Sunum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8899B4"/>
                </a:solidFill>
                <a:latin typeface="Calibri"/>
              </a:rPr>
              <a:t>Arayüzdeki tüm butonların ne işe yaradığı + Inventor_QA modülünün teknik mimarisi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A6A88"/>
                </a:solidFill>
                <a:latin typeface="Calibri"/>
              </a:rPr>
              <a:t>Sürüm: feature/inventor-qa-section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İçindekiler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Sunumun akışı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1. Ana Sayfa (Dashboard) — proje listesi ve butonları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2. Workspace — Üst Navbar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3. Workspace — Sol Panel: Claims &amp; Elements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4. Workspace — Orta Panel: LLM Extraction Queue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5. Workspace — Sağ Panel: Claim Draft Editor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6. Modal: Upload Excel Data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7. Modal: Extract Elements from BBF + Report (+ Inventor_QA)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8. Modal: Project Settings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9. Hızlı İş Akışı (sıfırdan draft üretme)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10. Teknik Bilgi — Kod ve Frontend Mimarisi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11. Yeni Inventor_QA Modülü — Backend &amp; Frontend Detayı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1. Ana Sayfa (Dashboard)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Proje listesi + tanıtım panosu + üst navbar</a:t>
            </a:r>
          </a:p>
        </p:txBody>
      </p:sp>
      <p:pic>
        <p:nvPicPr>
          <p:cNvPr id="6" name="Picture 5" descr="Ekran görüntüsü 2026-04-14 011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3093401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120640" cy="5120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Data Loaded / No Data: </a:t>
            </a:r>
            <a:r>
              <a:rPr sz="1200">
                <a:solidFill>
                  <a:srgbClr val="E8EAF0"/>
                </a:solidFill>
              </a:rPr>
              <a:t>Excel verisinin yüklü olup olmadığını gösterir.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Back to Home: </a:t>
            </a:r>
            <a:r>
              <a:rPr sz="1200">
                <a:solidFill>
                  <a:srgbClr val="E8EAF0"/>
                </a:solidFill>
              </a:rPr>
              <a:t>Workspace'ten ana sayfaya döner.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Upload Data: </a:t>
            </a:r>
            <a:r>
              <a:rPr sz="1200">
                <a:solidFill>
                  <a:srgbClr val="E8EAF0"/>
                </a:solidFill>
              </a:rPr>
              <a:t>Excel yükleme modalını açar.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Upload Excel Data (sol): </a:t>
            </a:r>
            <a:r>
              <a:rPr sz="1200">
                <a:solidFill>
                  <a:srgbClr val="E8EAF0"/>
                </a:solidFill>
              </a:rPr>
              <a:t>Aynı yükleme modalı, kolaylık için sol panelde de var.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+ New Project: </a:t>
            </a:r>
            <a:r>
              <a:rPr sz="1200">
                <a:solidFill>
                  <a:srgbClr val="E8EAF0"/>
                </a:solidFill>
              </a:rPr>
              <a:t>Yeni proje oluşturma modalı (ad + owner).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Inputs (proje kartında): </a:t>
            </a:r>
            <a:r>
              <a:rPr sz="1200">
                <a:solidFill>
                  <a:srgbClr val="E8EAF0"/>
                </a:solidFill>
              </a:rPr>
              <a:t>Patent Inputs modalı — Inventor_QA metni ve dökümanları.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Edit (proje kartında): </a:t>
            </a:r>
            <a:r>
              <a:rPr sz="1200">
                <a:solidFill>
                  <a:srgbClr val="E8EAF0"/>
                </a:solidFill>
              </a:rPr>
              <a:t>Proje adı ve owner düzenleme.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Open / Karta tıklama: </a:t>
            </a:r>
            <a:r>
              <a:rPr sz="1200">
                <a:solidFill>
                  <a:srgbClr val="E8EAF0"/>
                </a:solidFill>
              </a:rPr>
              <a:t>Projeyi açıp workspace ekranına geçer.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2. Workspace — Üst Navbar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Açık projenin üst çubuğu</a:t>
            </a:r>
          </a:p>
        </p:txBody>
      </p:sp>
      <p:pic>
        <p:nvPicPr>
          <p:cNvPr id="6" name="Picture 5" descr="Ekran görüntüsü 2026-04-14 011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3093778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120640" cy="5120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Proje Adı: </a:t>
            </a:r>
            <a:r>
              <a:rPr sz="1200">
                <a:solidFill>
                  <a:srgbClr val="E8EAF0"/>
                </a:solidFill>
              </a:rPr>
              <a:t>Açık olan projenin adı; yanında owner görünür.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✎ Rename: </a:t>
            </a:r>
            <a:r>
              <a:rPr sz="1200">
                <a:solidFill>
                  <a:srgbClr val="E8EAF0"/>
                </a:solidFill>
              </a:rPr>
              <a:t>Projenin adını/sahibini değiştirir (Edit Project modalı).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Back to Home: </a:t>
            </a:r>
            <a:r>
              <a:rPr sz="1200">
                <a:solidFill>
                  <a:srgbClr val="E8EAF0"/>
                </a:solidFill>
              </a:rPr>
              <a:t>Ana sayfaya geri döner.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Upload Data: </a:t>
            </a:r>
            <a:r>
              <a:rPr sz="1200">
                <a:solidFill>
                  <a:srgbClr val="E8EAF0"/>
                </a:solidFill>
              </a:rPr>
              <a:t>Workspace içinden de Excel yüklenebilir.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3. Sol Panel — Claims &amp;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Patent istemleri ve element ağacı</a:t>
            </a:r>
          </a:p>
        </p:txBody>
      </p:sp>
      <p:pic>
        <p:nvPicPr>
          <p:cNvPr id="6" name="Picture 5" descr="Ekran görüntüsü 2026-04-14 012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3213708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120640" cy="5120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B82F6"/>
                </a:solidFill>
              </a:rPr>
              <a:t>• + Add Claim: </a:t>
            </a:r>
            <a:r>
              <a:rPr sz="1100">
                <a:solidFill>
                  <a:srgbClr val="E8EAF0"/>
                </a:solidFill>
              </a:rPr>
              <a:t>Yeni istem oluşturur (independent/dependent + apparatus/method).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3B82F6"/>
                </a:solidFill>
              </a:rPr>
              <a:t>• Claim Numarası: </a:t>
            </a:r>
            <a:r>
              <a:rPr sz="1100">
                <a:solidFill>
                  <a:srgbClr val="E8EAF0"/>
                </a:solidFill>
              </a:rPr>
              <a:t>Tıklayınca o istemi seçer; Ready/Incomplete rozeti var.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3B82F6"/>
                </a:solidFill>
              </a:rPr>
              <a:t>• Genişlet/Daralt oku: </a:t>
            </a:r>
            <a:r>
              <a:rPr sz="1100">
                <a:solidFill>
                  <a:srgbClr val="E8EAF0"/>
                </a:solidFill>
              </a:rPr>
              <a:t>Element ağacını açıp kapatır.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3B82F6"/>
                </a:solidFill>
              </a:rPr>
              <a:t>• + Add Elements: </a:t>
            </a:r>
            <a:r>
              <a:rPr sz="1100">
                <a:solidFill>
                  <a:srgbClr val="E8EAF0"/>
                </a:solidFill>
              </a:rPr>
              <a:t>Patent havuzundan element bağlar.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3B82F6"/>
                </a:solidFill>
              </a:rPr>
              <a:t>• Yukarı/Aşağı oku: </a:t>
            </a:r>
            <a:r>
              <a:rPr sz="1100">
                <a:solidFill>
                  <a:srgbClr val="E8EAF0"/>
                </a:solidFill>
              </a:rPr>
              <a:t>Element sırasını değiştirir.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3B82F6"/>
                </a:solidFill>
              </a:rPr>
              <a:t>• Yenile: </a:t>
            </a:r>
            <a:r>
              <a:rPr sz="1100">
                <a:solidFill>
                  <a:srgbClr val="E8EAF0"/>
                </a:solidFill>
              </a:rPr>
              <a:t>Element ağacını backend'den tazeler.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3B82F6"/>
                </a:solidFill>
              </a:rPr>
              <a:t>• Search elements: </a:t>
            </a:r>
            <a:r>
              <a:rPr sz="1100">
                <a:solidFill>
                  <a:srgbClr val="E8EAF0"/>
                </a:solidFill>
              </a:rPr>
              <a:t>İsme göre filtreler.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3B82F6"/>
                </a:solidFill>
              </a:rPr>
              <a:t>• Element satırı: </a:t>
            </a:r>
            <a:r>
              <a:rPr sz="1100">
                <a:solidFill>
                  <a:srgbClr val="E8EAF0"/>
                </a:solidFill>
              </a:rPr>
              <a:t>Tıklayınca tanım modalı açılır.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3B82F6"/>
                </a:solidFill>
              </a:rPr>
              <a:t>• Çöp ikonu (claim/element): </a:t>
            </a:r>
            <a:r>
              <a:rPr sz="1100">
                <a:solidFill>
                  <a:srgbClr val="E8EAF0"/>
                </a:solidFill>
              </a:rPr>
              <a:t>Claim'i siler veya element bağını çözer.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4. Orta Panel — LLM Extraction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Patent element havuzu ve otomatik çıkarım</a:t>
            </a:r>
          </a:p>
        </p:txBody>
      </p:sp>
      <p:pic>
        <p:nvPicPr>
          <p:cNvPr id="6" name="Picture 5" descr="Ekran görüntüsü 2026-04-14 011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3093778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120640" cy="5120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⚡ Extract: </a:t>
            </a:r>
            <a:r>
              <a:rPr sz="1200">
                <a:solidFill>
                  <a:srgbClr val="E8EAF0"/>
                </a:solidFill>
              </a:rPr>
              <a:t>BBF + Report (+ opsiyonel Inventor_QA) yükleyip otomatik element çıkarır.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+ Add Element: </a:t>
            </a:r>
            <a:r>
              <a:rPr sz="1200">
                <a:solidFill>
                  <a:srgbClr val="E8EAF0"/>
                </a:solidFill>
              </a:rPr>
              <a:t>Manuel olarak yeni element oluşturur.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DRAG (sürükleme): </a:t>
            </a:r>
            <a:r>
              <a:rPr sz="1200">
                <a:solidFill>
                  <a:srgbClr val="E8EAF0"/>
                </a:solidFill>
              </a:rPr>
              <a:t>Element'i bir claim kartına sürükleyerek bağlar.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Edit: </a:t>
            </a:r>
            <a:r>
              <a:rPr sz="1200">
                <a:solidFill>
                  <a:srgbClr val="E8EAF0"/>
                </a:solidFill>
              </a:rPr>
              <a:t>Element Definition modalını açar (ad, ref, definition, AI suggest).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Çöp ikonu: </a:t>
            </a:r>
            <a:r>
              <a:rPr sz="1200">
                <a:solidFill>
                  <a:srgbClr val="E8EAF0"/>
                </a:solidFill>
              </a:rPr>
              <a:t>Element'i havuzdan tamamen siler.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5. Sağ Panel — Claim Draft Editor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Seçili istem için draft yazma alanı</a:t>
            </a:r>
          </a:p>
        </p:txBody>
      </p:sp>
      <p:pic>
        <p:nvPicPr>
          <p:cNvPr id="6" name="Picture 5" descr="Ekran görüntüsü 2026-04-14 012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548" y="1371600"/>
            <a:ext cx="4253463" cy="5120640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120640" cy="5120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⚙ Settings: </a:t>
            </a:r>
            <a:r>
              <a:rPr sz="1200">
                <a:solidFill>
                  <a:srgbClr val="E8EAF0"/>
                </a:solidFill>
              </a:rPr>
              <a:t>Project Settings modalı (Invention Context, BBF Text, LLM URL).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Assemble with Report: </a:t>
            </a:r>
            <a:r>
              <a:rPr sz="1200">
                <a:solidFill>
                  <a:srgbClr val="E8EAF0"/>
                </a:solidFill>
              </a:rPr>
              <a:t>Tüm tanımlardan bir rapor üretip draft alanına yazar.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Save: </a:t>
            </a:r>
            <a:r>
              <a:rPr sz="1200">
                <a:solidFill>
                  <a:srgbClr val="E8EAF0"/>
                </a:solidFill>
              </a:rPr>
              <a:t>Draft metnini PostgreSQL'e kaydeder; '✓ Saved' geri bildirimi gösterir.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Go to AI Draft: </a:t>
            </a:r>
            <a:r>
              <a:rPr sz="1200">
                <a:solidFill>
                  <a:srgbClr val="E8EAF0"/>
                </a:solidFill>
              </a:rPr>
              <a:t>Composer ekranına geçip AI ile tam draft üretir.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Draft Composer: </a:t>
            </a:r>
            <a:r>
              <a:rPr sz="1200">
                <a:solidFill>
                  <a:srgbClr val="E8EAF0"/>
                </a:solidFill>
              </a:rPr>
              <a:t>Direkt Draft Composer sayfasına geçiş yapar.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6. Modal — Upload Excel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RAG vektör veritabanını besleyen Excel yükleme</a:t>
            </a:r>
          </a:p>
        </p:txBody>
      </p:sp>
      <p:pic>
        <p:nvPicPr>
          <p:cNvPr id="6" name="Picture 5" descr="Ekran görüntüsü 2026-04-14 012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4063365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120640" cy="5120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Click to select Excel file: </a:t>
            </a:r>
            <a:r>
              <a:rPr sz="1200">
                <a:solidFill>
                  <a:srgbClr val="E8EAF0"/>
                </a:solidFill>
              </a:rPr>
              <a:t>Bilgisayardan .xlsx dosyası seçer.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Embedding süreci: </a:t>
            </a:r>
            <a:r>
              <a:rPr sz="1200">
                <a:solidFill>
                  <a:srgbClr val="E8EAF0"/>
                </a:solidFill>
              </a:rPr>
              <a:t>Arka planda çalışır; durum yeşil rozetle gösterilir (örn. 'Loaded 9133 docs. FAISS index ready.').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Close: </a:t>
            </a:r>
            <a:r>
              <a:rPr sz="1200">
                <a:solidFill>
                  <a:srgbClr val="E8EAF0"/>
                </a:solidFill>
              </a:rPr>
              <a:t>Modalı kapatır; arka plan işlemi etkilenmez.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7. Modal — Extract Elements from BBF +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BBF + Report (+ Inventor_QA) ile otomatik element çıkarımı</a:t>
            </a:r>
          </a:p>
        </p:txBody>
      </p:sp>
      <p:pic>
        <p:nvPicPr>
          <p:cNvPr id="6" name="Picture 5" descr="Ekran görüntüsü 2026-04-14 012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078409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120640" cy="5120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BBF Document: </a:t>
            </a:r>
            <a:r>
              <a:rPr sz="1200">
                <a:solidFill>
                  <a:srgbClr val="E8EAF0"/>
                </a:solidFill>
              </a:rPr>
              <a:t>Buluş Bildirim Formu dökümanı (zorunlu).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Report Document: </a:t>
            </a:r>
            <a:r>
              <a:rPr sz="1200">
                <a:solidFill>
                  <a:srgbClr val="E8EAF0"/>
                </a:solidFill>
              </a:rPr>
              <a:t>Araştırma raporu dökümanı (zorunlu).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Buluşçu ile Yazışmalar (Inventor_QA): </a:t>
            </a:r>
            <a:r>
              <a:rPr sz="1200">
                <a:solidFill>
                  <a:srgbClr val="E8EAF0"/>
                </a:solidFill>
              </a:rPr>
              <a:t>Opsiyonel; dosya seçer seçmez otomatik yüklenir ve projede saklanır.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Cancel: </a:t>
            </a:r>
            <a:r>
              <a:rPr sz="1200">
                <a:solidFill>
                  <a:srgbClr val="E8EAF0"/>
                </a:solidFill>
              </a:rPr>
              <a:t>Modalı kapatır.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⚡ Extract Elements: </a:t>
            </a:r>
            <a:r>
              <a:rPr sz="1200">
                <a:solidFill>
                  <a:srgbClr val="E8EAF0"/>
                </a:solidFill>
              </a:rPr>
              <a:t>Pipeline'ı çalıştırır; çıkarılan element'ler havuza eklenir.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8. Modal — Project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AI üretimi için bağlam ve LLM ayarları</a:t>
            </a:r>
          </a:p>
        </p:txBody>
      </p:sp>
      <p:pic>
        <p:nvPicPr>
          <p:cNvPr id="6" name="Picture 5" descr="Ekran görüntüsü 2026-04-14 012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347523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120640" cy="5120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Invention Context: </a:t>
            </a:r>
            <a:r>
              <a:rPr sz="1200">
                <a:solidFill>
                  <a:srgbClr val="E8EAF0"/>
                </a:solidFill>
              </a:rPr>
              <a:t>Buluşu özetleyen tek satırlık context cümlesi.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BBF Text: </a:t>
            </a:r>
            <a:r>
              <a:rPr sz="1200">
                <a:solidFill>
                  <a:srgbClr val="E8EAF0"/>
                </a:solidFill>
              </a:rPr>
              <a:t>BBF tam metni; AI üretim modüllerine girdi olur.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LLM API URL (Colab ngrok): </a:t>
            </a:r>
            <a:r>
              <a:rPr sz="1200">
                <a:solidFill>
                  <a:srgbClr val="E8EAF0"/>
                </a:solidFill>
              </a:rPr>
              <a:t>Colab'da çalışan Mistral-7B'nin uzaktan erişim adresi.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Cancel: </a:t>
            </a:r>
            <a:r>
              <a:rPr sz="1200">
                <a:solidFill>
                  <a:srgbClr val="E8EAF0"/>
                </a:solidFill>
              </a:rPr>
              <a:t>Kaydetmeden kapatır.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</a:rPr>
              <a:t>• Save: </a:t>
            </a:r>
            <a:r>
              <a:rPr sz="1200">
                <a:solidFill>
                  <a:srgbClr val="E8EAF0"/>
                </a:solidFill>
              </a:rPr>
              <a:t>Ayarları uygulamanın cache'ine yazar.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9. Hızlı İş Akışı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Sıfırdan tam patent draft'ı için 10 adım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1. Excel verisini yükleyin (Upload Data) → 'Data Loaded' rozeti yeşile dönmeli.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2. + New Project ile proje oluşturun (ad + owner).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3. (Opsiyonel) Inputs butonu ile Inventor_QA metni / dökümanı ekleyin.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4. Open ile projeyi açın → workspace ekranına geçin.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5. ⚡ Extract ile BBF + Report (+ Inventor_QA) yükleyip element'leri çıkarın.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6. + Add Claim ile bir veya birden fazla istem oluşturun.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7. Element'leri claim'lere bağlayın (+ Add Elements veya DRAG).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8. Element Definition modallarını açıp tanımları doldurun (gerekirse AI Suggest).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9. Bir claim seçin → draft metnini yazıp Save'e basın.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AF0"/>
                </a:solidFill>
              </a:rPr>
              <a:t>• 10. Go to AI Draft → Generate Draft ile AI çıktısı üretin.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10. Kullanılan Teknolojiler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Stack — neyin nerede çalıştığı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B82F6"/>
                </a:solidFill>
              </a:rPr>
              <a:t>• Backend: </a:t>
            </a:r>
            <a:r>
              <a:rPr sz="1500">
                <a:solidFill>
                  <a:srgbClr val="E8EAF0"/>
                </a:solidFill>
              </a:rPr>
              <a:t>FastAPI (Python 3.12) — REST API ve statik dosya sunumu.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82F6"/>
                </a:solidFill>
              </a:rPr>
              <a:t>• Veritabanı: </a:t>
            </a:r>
            <a:r>
              <a:rPr sz="1500">
                <a:solidFill>
                  <a:srgbClr val="E8EAF0"/>
                </a:solidFill>
              </a:rPr>
              <a:t>PostgreSQL 16 — projeler, claim'ler, element'ler, inventor_qa, dökümanlar.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82F6"/>
                </a:solidFill>
              </a:rPr>
              <a:t>• ORM: </a:t>
            </a:r>
            <a:r>
              <a:rPr sz="1500">
                <a:solidFill>
                  <a:srgbClr val="E8EAF0"/>
                </a:solidFill>
              </a:rPr>
              <a:t>SQLAlchemy 2.x (Mapped tipler) + Alembic (şema migration'ları).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82F6"/>
                </a:solidFill>
              </a:rPr>
              <a:t>• Vektör veritabanı: </a:t>
            </a:r>
            <a:r>
              <a:rPr sz="1500">
                <a:solidFill>
                  <a:srgbClr val="E8EAF0"/>
                </a:solidFill>
              </a:rPr>
              <a:t>ChromaDB / FAISS + sentence-transformers (multilingual-e5-base).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82F6"/>
                </a:solidFill>
              </a:rPr>
              <a:t>• AI / LLM: </a:t>
            </a:r>
            <a:r>
              <a:rPr sz="1500">
                <a:solidFill>
                  <a:srgbClr val="E8EAF0"/>
                </a:solidFill>
              </a:rPr>
              <a:t>RAG akışı + Colab üzerinde Mistral-7B (ngrok ile uzaktan).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82F6"/>
                </a:solidFill>
              </a:rPr>
              <a:t>• Frontend: </a:t>
            </a:r>
            <a:r>
              <a:rPr sz="1500">
                <a:solidFill>
                  <a:srgbClr val="E8EAF0"/>
                </a:solidFill>
              </a:rPr>
              <a:t>Vanilla HTML + CSS + JavaScript — build adımı yok, SPA gibi davranır.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82F6"/>
                </a:solidFill>
              </a:rPr>
              <a:t>• Container: </a:t>
            </a:r>
            <a:r>
              <a:rPr sz="1500">
                <a:solidFill>
                  <a:srgbClr val="E8EAF0"/>
                </a:solidFill>
              </a:rPr>
              <a:t>Docker Compose ile iki servis: db (postgres) ve app (FastAPI).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82F6"/>
                </a:solidFill>
              </a:rPr>
              <a:t>• Versiyon kontrol: </a:t>
            </a:r>
            <a:r>
              <a:rPr sz="1500">
                <a:solidFill>
                  <a:srgbClr val="E8EAF0"/>
                </a:solidFill>
              </a:rPr>
              <a:t>Git + GitHub (feature branch akışı).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11. Klasör Yapısı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Önemli dizinler ve sorumlulukları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AF0"/>
                </a:solidFill>
                <a:latin typeface="Consolas"/>
              </a:rPr>
              <a:t>paten_draft_backend/
├── app/
│   ├── main.py                FastAPI + router bağlama
│   ├── database.py            SQLAlchemy session
│   ├── config.py              Ortam ayarları
│   ├── models/                ORM (Patent, Claim, Element, InventorQA…)
│   ├── schemas/               Pydantic istek/cevap şemaları
│   ├── services/              İş mantığı (CRUD, dosya işlemleri)
│   ├── routes/                FastAPI endpoint'leri
│   ├── ingestion/             Excel → ChromaDB embedding üretimi
│   └── rag_engine.py          RAG sorgu motoru
├── alembic/versions/          DB migration dosyaları
├── static/
│   ├── home.html              Tek sayfa SPA şablonu
│   ├── jss/app.js             Tüm frontend mantığı
│   └── cs/style.css           Koyu tema
├── docker-compose.yml         db + app servisleri
└── Dockerfile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12. Frontend Mimarisi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static/home.html + jss/app.js + cs/style.css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Tek 'home.html' içinde birden fazla 'page' tanımlı: page-dashboard, page-editor, page-composer.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Sayfa geçişleri showPage(id) ile yapılır; sadece bir sayfa 'active' class'ına sahip olur.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Tüm modal'lar aynı dosyada tanımlı; 'modal-overlay' class'ına 'active' eklenince açılır.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State global JS değişkenleriyle yönetilir: _projects, _claims, _elements, _patentId vb.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API çağrıları için 'api(path, opts)' helper'ı — otomatik /api prefix + JSON parse.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Cache busting: app.js?v=5 ve style.css?v=5 ile tarayıcı eski sürümü değil yenisini indirir.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13. Backend Mimarisi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4 katman: model → schema → service →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Model (app/models/): </a:t>
            </a:r>
            <a:r>
              <a:rPr sz="1400">
                <a:solidFill>
                  <a:srgbClr val="E8EAF0"/>
                </a:solidFill>
              </a:rPr>
              <a:t>SQLAlchemy ORM — DB tablolarının Python karşılığı.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Schema (app/schemas/): </a:t>
            </a:r>
            <a:r>
              <a:rPr sz="1400">
                <a:solidFill>
                  <a:srgbClr val="E8EAF0"/>
                </a:solidFill>
              </a:rPr>
              <a:t>Pydantic — istek body ve cevap formatı, doğrulama.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Service (app/services/): </a:t>
            </a:r>
            <a:r>
              <a:rPr sz="1400">
                <a:solidFill>
                  <a:srgbClr val="E8EAF0"/>
                </a:solidFill>
              </a:rPr>
              <a:t>İş mantığı — service'ler DB ile konuşur, route'lar service'i çağırır.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Route (app/routes/): </a:t>
            </a:r>
            <a:r>
              <a:rPr sz="1400">
                <a:solidFill>
                  <a:srgbClr val="E8EAF0"/>
                </a:solidFill>
              </a:rPr>
              <a:t>FastAPI APIRouter — HTTP endpoint tanımları.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Bağlantı: </a:t>
            </a:r>
            <a:r>
              <a:rPr sz="1400">
                <a:solidFill>
                  <a:srgbClr val="E8EAF0"/>
                </a:solidFill>
              </a:rPr>
              <a:t>main.py routerları include_router ile uygulamaya ekler.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DB session: </a:t>
            </a:r>
            <a:r>
              <a:rPr sz="1400">
                <a:solidFill>
                  <a:srgbClr val="E8EAF0"/>
                </a:solidFill>
              </a:rPr>
              <a:t>Depends(get_db) ile her isteğe enjekte edilir; istek sonunda kapanır.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Uzun işlemler: </a:t>
            </a:r>
            <a:r>
              <a:rPr sz="1400">
                <a:solidFill>
                  <a:srgbClr val="E8EAF0"/>
                </a:solidFill>
              </a:rPr>
              <a:t>Excel embedding ve BBF pipeline thread'lerde arka planda çalışır; status endpoint'i ile poll edilir.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14. Veritabanı Şeması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PostgreSQL ana tabloları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patent: </a:t>
            </a:r>
            <a:r>
              <a:rPr sz="1300">
                <a:solidFill>
                  <a:srgbClr val="E8EAF0"/>
                </a:solidFill>
              </a:rPr>
              <a:t>patent_id, patent_name, patent_owner, patent_draft, timestamps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claim: </a:t>
            </a:r>
            <a:r>
              <a:rPr sz="1300">
                <a:solidFill>
                  <a:srgbClr val="E8EAF0"/>
                </a:solidFill>
              </a:rPr>
              <a:t>claim_id, patent_id, claim_number, dependency_type, category, parent_claim_id, claim_text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element: </a:t>
            </a:r>
            <a:r>
              <a:rPr sz="1300">
                <a:solidFill>
                  <a:srgbClr val="E8EAF0"/>
                </a:solidFill>
              </a:rPr>
              <a:t>element_id, patent_id, element_name, reference_number, definition_text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claim_element: </a:t>
            </a:r>
            <a:r>
              <a:rPr sz="1300">
                <a:solidFill>
                  <a:srgbClr val="E8EAF0"/>
                </a:solidFill>
              </a:rPr>
              <a:t>claim_id + element_id (many-to-many) + order_index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invention_disclosure: </a:t>
            </a:r>
            <a:r>
              <a:rPr sz="1300">
                <a:solidFill>
                  <a:srgbClr val="E8EAF0"/>
                </a:solidFill>
              </a:rPr>
              <a:t>patent_id (1:1), prior_art_and_problems, closest_prior_patents, novel_features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research_report: </a:t>
            </a:r>
            <a:r>
              <a:rPr sz="1300">
                <a:solidFill>
                  <a:srgbClr val="E8EAF0"/>
                </a:solidFill>
              </a:rPr>
              <a:t>patent_id (1:1), executive_summary, search_strategy, classification_and_keywords, element_patent_analysis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inventor_qa: </a:t>
            </a:r>
            <a:r>
              <a:rPr sz="1300">
                <a:solidFill>
                  <a:srgbClr val="E8EAF0"/>
                </a:solidFill>
              </a:rPr>
              <a:t>patent_id (1:1), questions_and_answers (text)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inventor_qa_document  [YENİ]: </a:t>
            </a:r>
            <a:r>
              <a:rPr sz="1300">
                <a:solidFill>
                  <a:srgbClr val="E8EAF0"/>
                </a:solidFill>
              </a:rPr>
              <a:t>qna_id (FK), original_filename, stored_filename, mime_type, size_bytes, created_at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15. Yeni Inventor_QA —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Buluşçu ile Yazışmalar modülünün backend tarafı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Model: </a:t>
            </a:r>
            <a:r>
              <a:rPr sz="1400">
                <a:solidFill>
                  <a:srgbClr val="E8EAF0"/>
                </a:solidFill>
              </a:rPr>
              <a:t>app/models/inventor_qa.py içine InventorQADocument eklendi (cascade silme).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Schema: </a:t>
            </a:r>
            <a:r>
              <a:rPr sz="1400">
                <a:solidFill>
                  <a:srgbClr val="E8EAF0"/>
                </a:solidFill>
              </a:rPr>
              <a:t>app/schemas/inventor_qa.py — InventorQARead, InventorQADocumentRead, InventorQAUpdate.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Service: </a:t>
            </a:r>
            <a:r>
              <a:rPr sz="1400">
                <a:solidFill>
                  <a:srgbClr val="E8EAF0"/>
                </a:solidFill>
              </a:rPr>
              <a:t>app/services/inventor_qa_service.py — get/upsert text + add/get/list/delete document.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Route: </a:t>
            </a:r>
            <a:r>
              <a:rPr sz="1400">
                <a:solidFill>
                  <a:srgbClr val="E8EAF0"/>
                </a:solidFill>
              </a:rPr>
              <a:t>app/routes/inventor_qa.py — /api/patents/{patent_id}/inventor-qa altında 5 endpoint.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Migration: </a:t>
            </a:r>
            <a:r>
              <a:rPr sz="1400">
                <a:solidFill>
                  <a:srgbClr val="E8EAF0"/>
                </a:solidFill>
              </a:rPr>
              <a:t>alembic/versions/7c0e9b41ad22_add_inventor_qa_document.py.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Dosya saklama: </a:t>
            </a:r>
            <a:r>
              <a:rPr sz="1400">
                <a:solidFill>
                  <a:srgbClr val="E8EAF0"/>
                </a:solidFill>
              </a:rPr>
              <a:t>settings.uploads_path/inventor_qa/{patent_id}/ klasörüne yazılır; metadata DB'de tutulur.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</a:rPr>
              <a:t>• App'e bağlama: </a:t>
            </a:r>
            <a:r>
              <a:rPr sz="1400">
                <a:solidFill>
                  <a:srgbClr val="E8EAF0"/>
                </a:solidFill>
              </a:rPr>
              <a:t>main.py içinde app.include_router(inventor_qa_router) eklendi.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16. Yeni API Endpoint'leri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RESTful arayüz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AF0"/>
                </a:solidFill>
                <a:latin typeface="Consolas"/>
              </a:rPr>
              <a:t>GET    /api/patents/{patent_id}/inventor-qa
       → Q&amp;A metnini ve yüklenmiş doküman listesini döndürür
PUT    /api/patents/{patent_id}/inventor-qa
       → Q&amp;A metnini günceller (body: { questions_and_answers })
POST   /api/patents/{patent_id}/inventor-qa/documents
       → multipart/form-data ile doküman yükler
GET    /api/patents/{patent_id}/inventor-qa/documents/{document_id}
       → Yüklenmiş dokümanı indirir (FileResponse)
DELETE /api/patents/{patent_id}/inventor-qa/documents/{document_id}
       → Dokümanı diskten ve DB'den siler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17. Yeni Inventor_QA —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static/home.html + static/jss/app.js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Patent Inputs Modalı: </a:t>
            </a:r>
            <a:r>
              <a:rPr sz="1300">
                <a:solidFill>
                  <a:srgbClr val="E8EAF0"/>
                </a:solidFill>
              </a:rPr>
              <a:t>home.html'e eklendi — Inventor_QA kartı (textarea + dosya yükleme + döküman listesi).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Proje kartı butonları: </a:t>
            </a:r>
            <a:r>
              <a:rPr sz="1300">
                <a:solidFill>
                  <a:srgbClr val="E8EAF0"/>
                </a:solidFill>
              </a:rPr>
              <a:t>Her proje kartına 📋 Inputs ve ✎ Edit butonları eklendi (sıralı, dar sidebar'a sığar).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Workspace Rename: </a:t>
            </a:r>
            <a:r>
              <a:rPr sz="1300">
                <a:solidFill>
                  <a:srgbClr val="E8EAF0"/>
                </a:solidFill>
              </a:rPr>
              <a:t>Üst navbar'a ✎ Rename butonu eklendi; aynı edit modalını açar.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Extract modalı: </a:t>
            </a:r>
            <a:r>
              <a:rPr sz="1300">
                <a:solidFill>
                  <a:srgbClr val="E8EAF0"/>
                </a:solidFill>
              </a:rPr>
              <a:t>BBF + Report'a ek 3. yükleme alanı (Buluşçu ile Yazışmalar) eklendi; dosya seçer seçmez otomatik upload yapar.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JS fonksiyonları: </a:t>
            </a:r>
            <a:r>
              <a:rPr sz="1300">
                <a:solidFill>
                  <a:srgbClr val="E8EAF0"/>
                </a:solidFill>
              </a:rPr>
              <a:t>openPatentInputs, loadInventorQa, uploadInventorQaDocument, deleteInventorQaDocument, saveInventorQaText, onInventorQaExtractFileChange.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CSS: </a:t>
            </a:r>
            <a:r>
              <a:rPr sz="1300">
                <a:solidFill>
                  <a:srgbClr val="E8EAF0"/>
                </a:solidFill>
              </a:rPr>
              <a:t>patent-input-card, patent-input-doc-row, project-item--stacked stilleri.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</a:rPr>
              <a:t>• Cache busting: </a:t>
            </a:r>
            <a:r>
              <a:rPr sz="1300">
                <a:solidFill>
                  <a:srgbClr val="E8EAF0"/>
                </a:solidFill>
              </a:rPr>
              <a:t>Tüm bu değişiklikler app.js?v=5 / style.css?v=5 ile garanti edilir.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18. İstek-Cevap Akışı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Örnek: Q&amp;A metnini kaydetme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1. Kullanıcı 📋 Inputs butonuna tıklar → frontend openPatentInputs() çağrılır.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2. Modal açılır → loadInventorQa() ile GET /api/patents/{id}/inventor-qa çağrılır.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3. Backend route → service → SQLAlchemy SELECT → mevcut kayıt döner.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4. Kullanıcı textarea'ya yazıp 'Save Q&amp;A Text' butonuna basar → saveInventorQaText().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5. Frontend PUT /api/patents/{id}/inventor-qa endpoint'ine JSON gönderir.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6. FastAPI route → service → SQLAlchemy UPDATE → güncellenmiş kayıt döner.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8EAF0"/>
                </a:solidFill>
              </a:rPr>
              <a:t>• 7. Frontend cevabı alır, doküman listesini yeniler ve 'Saved' uyarısı gösterir.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19. Çalıştırma &amp;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899B4"/>
                </a:solidFill>
                <a:latin typeface="Calibri"/>
              </a:rPr>
              <a:t>Docker Compose komutları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AF0"/>
                </a:solidFill>
                <a:latin typeface="Consolas"/>
              </a:rPr>
              <a:t># Tek komutla başlat
docker compose up -d --build
# Migration container açılışında otomatik çalışır (start.sh)
# alembic upgrade head
# Loglar
docker compose logs -f app
# Sağlık kontrolü
curl http://localhost:8000/api/health
# Tarayıcı
http://localhost:8000/
# Branch ve push
git checkout -b feature/inventor-qa-section
git push melike feature/inventor-qa-section
git push origin feature/inventor-qa-section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201168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Teşekkürler!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3B82F6"/>
                </a:solidFill>
                <a:latin typeface="Calibri"/>
              </a:rPr>
              <a:t>Sorularınızı bekliyorum.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A6A88"/>
                </a:solidFill>
                <a:latin typeface="Calibri"/>
              </a:rPr>
              <a:t>GitHub: melikedemirkoparan/bitirme-projesi-ui (branch: feature/inventor-qa-section)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